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289" r:id="rId5"/>
    <p:sldId id="286" r:id="rId6"/>
    <p:sldId id="297" r:id="rId7"/>
    <p:sldId id="292" r:id="rId8"/>
    <p:sldId id="296" r:id="rId9"/>
    <p:sldId id="298" r:id="rId10"/>
    <p:sldId id="308" r:id="rId11"/>
    <p:sldId id="300" r:id="rId12"/>
    <p:sldId id="303" r:id="rId13"/>
    <p:sldId id="309" r:id="rId14"/>
    <p:sldId id="310" r:id="rId15"/>
    <p:sldId id="299" r:id="rId16"/>
    <p:sldId id="305" r:id="rId17"/>
    <p:sldId id="306" r:id="rId18"/>
    <p:sldId id="304" r:id="rId19"/>
    <p:sldId id="307" r:id="rId20"/>
    <p:sldId id="311" r:id="rId21"/>
    <p:sldId id="29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13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5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0090A2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2F7A84F-E231-42BE-A9F8-B5131853C8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B813BC-9E49-4ABB-A3C3-CEE0885B027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EBDBEE-1FDA-4F57-947F-5759FA6ABC55}" type="datetimeFigureOut">
              <a:rPr lang="en-US" smtClean="0"/>
              <a:t>5/10/2025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ADFF29-9BE4-4CDF-A198-BBEE303F0EB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D4AFC6-5A97-4417-A16A-485E5801A6E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A8C659-3DDB-48CB-A056-6A658A161B7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7677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16A9CD-5E57-4C86-B862-09CA519924BA}" type="datetimeFigureOut">
              <a:rPr lang="en-US" smtClean="0"/>
              <a:t>5/9/2025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A004F4-F240-48F9-8AE1-486585C7F00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881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8534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0890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3B9B8-E319-9383-8FD9-D28CD0B3E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60CFCF-3049-3C5D-EEA3-9B9D64D9E7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B7132E-3252-D5BE-20C9-7DC1B0DBCF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46C0E-841F-233A-F87F-4E339AB40D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0844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5381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C216A-EEFF-BE82-FC99-755CAB0B2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54F18B-3A13-7FA4-E8F8-16BAACB44B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16B89B-4B94-C416-EE3B-282630F3E3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E3E0AE-182D-587E-2929-9A76BD8E75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5734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DFCA5-8D8C-7E85-469D-4ACE20E57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AA3F8E-70A8-1CCF-133D-7DD729AD24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C5EA8B-B2F4-B0B4-61A3-ABEE27909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1304B1-76C1-48EF-607A-33C281CA09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184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78B80-C89A-D37D-DAF1-8E82E86E6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040E93-60D5-1F49-2AC1-196EDD1796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C4D926-3BB8-7E70-CF24-DE5746D17F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EB4AB5-2C52-DE8D-134D-8F34B91D08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3915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DE256-C46D-E698-40CA-26522E70D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B8EBF9-8661-0C13-29CA-385A3CAE85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AC4E28-2832-B8B9-6024-A20EA3A6B8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993F05-5323-C69E-DB65-2C73197A9C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8128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ABFD6-DA74-9BFA-4487-BA20D6D6F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44D4C0-3860-6C9B-688C-2742ECEB21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84D86D-F12E-5236-8BED-6DF74CC408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A9250C-A637-BD80-C0B6-4D13BBA39C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3225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3AB01-6A2E-E93D-B564-227D40676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33E1BC-540C-B924-F6DE-A4247ABF44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9DC6DB-33A9-39FB-4251-205C93B281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7DB815-D7FF-71C1-6FAD-D4C17F8F84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9796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68BAA-7ADE-729D-1CE6-C731BA465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CE146E-AC68-F422-AD5A-737C7CDCE4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4618BA-4A90-B354-42AC-B656914931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1D1BB-4F81-6422-0574-47F83B354D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58162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C2FF5-7000-4C31-32AF-77DC20C85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AEDAD2-D0AF-1426-65EF-844FFB0CD9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408294-7918-6305-1CFD-A82ABB78EA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EAA737-3138-EA16-A162-AC381FEA0C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325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89871-9038-12F6-6E05-954A5CD9F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190D38-7132-797C-2181-4C85C40F64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5B44DF-E3F3-9AB7-77DA-762642C733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DAB62-3A41-4309-2063-4F8B3A994C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68386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C6F8C-2542-3AE3-16A0-73AFA74D7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FDC892-B12C-8D76-F41F-0819260E45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48361C-40A8-5009-A6DB-0C406F7523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3453D0-3EDD-9A3F-DAD3-BC74257374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1499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14F54-E28C-E83A-ECC9-F2223C77E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0F2CB8-AF10-4764-EB69-DCB7A4E082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64A896-8136-65BD-C291-2B78AC52E8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9615A9-DF07-7FCB-D614-52C84846E7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1535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F8D59-9207-4F52-F753-85B29FB06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5164AB-1865-548A-F66A-7C08557C04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81CFDD-B2B0-8E33-0012-5EDA949130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7177FF-7480-76AC-1B2E-28D99F3AB9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0092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4D324-2A40-1D8E-7BB4-C1C70BC71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7DA85A-4520-5F90-65DD-DA1D666B78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FB7535-440D-115D-84DC-6A568E387D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9B470F-DC72-29E6-A189-EC3ADEB79C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39276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87B83-4897-2D34-DA4D-B73B4FCEC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46CFB9-E3C6-6E34-1A62-538EC63D7B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CC3B46-3DB9-B5D6-2495-8E60FC3FB7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E18EFC-B34B-C2E4-1AFC-B8CB74E8DC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806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7D165-49B0-44FF-A267-367F5A6EE3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39514"/>
            <a:ext cx="9144000" cy="2128049"/>
          </a:xfrm>
        </p:spPr>
        <p:txBody>
          <a:bodyPr anchor="b"/>
          <a:lstStyle>
            <a:lvl1pPr algn="ctr">
              <a:lnSpc>
                <a:spcPct val="125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B52800-74D6-4A78-AC9B-8E737A1A3B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21162"/>
            <a:ext cx="9144000" cy="882001"/>
          </a:xfrm>
          <a:solidFill>
            <a:schemeClr val="accent2">
              <a:alpha val="90000"/>
            </a:schemeClr>
          </a:solidFill>
        </p:spPr>
        <p:txBody>
          <a:bodyPr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500" b="1" i="1" kern="1200" spc="65" dirty="0">
                <a:solidFill>
                  <a:schemeClr val="accent1"/>
                </a:solidFill>
                <a:latin typeface="+mn-lt"/>
                <a:ea typeface="+mn-ea"/>
                <a:cs typeface="Arial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91F7B-C4AF-4FC6-A6BE-657DEF6D5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08ED5-AEFE-4443-9040-726EF6690995}" type="datetime1">
              <a:rPr lang="en-US" noProof="0" smtClean="0"/>
              <a:t>5/9/2025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D32F8-B0C7-4332-B0A5-BC19DD8C4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30946-D0C7-4F78-94B0-427DAA6D5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89509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11141-A77D-4E0E-8CAF-4CD3B2799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EFDE0-5A54-402A-B0C3-6BC0BB739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825AD-4585-4E37-A076-3D0070C93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2561F-7E45-400C-8758-912CDFE9410A}" type="datetime1">
              <a:rPr lang="en-US" noProof="0" smtClean="0"/>
              <a:t>5/9/2025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064AD-EDC3-4B13-8CD6-49EB60099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0FD1E-16F6-49B1-A938-8CE601ED7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25465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FA988-92AD-48D7-890A-AA0540961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A999FA-A189-41DB-9CFC-D1356C5343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D83DC-20E7-4B71-9794-36FC33B1B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24BC7-4CDB-41D7-81AF-9CE8473FF4B8}" type="datetime1">
              <a:rPr lang="en-US" noProof="0" smtClean="0"/>
              <a:t>5/9/2025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7D103-1290-4592-B37C-19C9C9DBE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55B1B-4A5C-42C7-99A5-B8217736F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33201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60EB58-EF7E-435A-8B07-B5BCF3AF1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F76098-6FA1-470A-BEF4-E4B0AC75E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47ABC-6745-43B6-8A64-6E191BD65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387105-2538-4216-9A7E-445FA092F9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F57DE0-C032-4FCC-9006-09C2C328A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D216-73DE-4B96-8E1B-BB64D86142BB}" type="datetime1">
              <a:rPr lang="en-US" noProof="0" smtClean="0"/>
              <a:t>5/9/2025</a:t>
            </a:fld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C776CB-2819-4488-9012-A6EA22079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25036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43C73-1D0F-45F9-A7E4-E9D24EAFD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B88E76-F6AB-4621-A9A6-20A81C5A3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313FB9-6D6C-4F61-9E7A-76E686D06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93A737-E48B-4909-BE04-F55B581032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F9958C-DB5F-444E-ACE8-73F5E0CA67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D097D1-3052-4C1F-B573-CA25FFF6C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5CD8C-7FEF-4E71-8EB9-D3BA6E2E3E9E}" type="datetime1">
              <a:rPr lang="en-US" noProof="0" smtClean="0"/>
              <a:t>5/9/2025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607AC3-2220-4DDA-A22A-C404538FE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D8DEB3-F122-4B42-9E12-F61189B8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32769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89EF5-3FD9-4423-A9E8-B67B4E902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0D7191-31B4-440E-A4E9-F412FA558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4379E-9B58-41EA-B928-5B1C8436A60E}" type="datetime1">
              <a:rPr lang="en-US" noProof="0" smtClean="0"/>
              <a:t>5/9/2025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C85CB6-0880-4BF0-8E98-291E70C71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4A5E74-F26F-4C7A-BED1-6EE66C0B3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91903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55C546-684A-45B9-8890-66DC55DF7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0A371-51FE-4D99-BD87-6A650FCE519D}" type="datetime1">
              <a:rPr lang="en-US" noProof="0" smtClean="0"/>
              <a:t>5/9/2025</a:t>
            </a:fld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43EBDF-D696-42F7-B962-56F5FEE12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89D77E-1675-4F9D-9113-B274CB0E8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4602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E9C90-06AB-49B5-9970-F5791DE93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B0071-932D-4CA0-92FB-A6E75AC85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C8D9F5-8B70-4BDD-9CB5-BBF87CF553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9DE91-7A80-4682-9D32-2CD41DEFB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F8CFF-A1C0-4B6C-AA8D-BE72CB14468D}" type="datetime1">
              <a:rPr lang="en-US" noProof="0" smtClean="0"/>
              <a:t>5/9/2025</a:t>
            </a:fld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9E2482-2E7D-4868-95A7-4A55B40FE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4E84CF-C3E5-4475-84C7-21CBAC064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62625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0E0AA-5363-4861-AB6B-0E4D34D74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44B7CE-2038-4CCA-AA8A-D03DE5FD95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79774D-36EB-4201-B1AC-922DD2E066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D1E234-1CB2-41A0-B40D-7E7F160CB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D634D-0427-413D-A0D0-098959D06FEF}" type="datetime1">
              <a:rPr lang="en-US" noProof="0" smtClean="0"/>
              <a:t>5/9/2025</a:t>
            </a:fld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FD472E-6334-4051-B4D9-6361A819F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2384B9-6290-4070-B7D1-A105B27F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67443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CEC732-0DE2-456B-92A1-84321C9BD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16A5B-B156-4DC3-B18E-14F3E59A6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B0252E-67CD-4B33-849F-7B1449CF27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17490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2591E0-5367-4F2F-9C30-2087D79A846D}" type="datetime1">
              <a:rPr lang="en-US" noProof="0" smtClean="0"/>
              <a:t>5/9/2025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20AD2-E3F8-48CB-8B72-B0945DF534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7490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A5F3BCF-F6FD-4DFF-B0B4-9892C9389344}"/>
              </a:ext>
            </a:extLst>
          </p:cNvPr>
          <p:cNvSpPr/>
          <p:nvPr userDrawn="1"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DEFFD-817B-43EC-86F0-34DEA2BA5E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844" y="6174902"/>
            <a:ext cx="357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i="1">
                <a:solidFill>
                  <a:schemeClr val="tx2">
                    <a:alpha val="70000"/>
                  </a:schemeClr>
                </a:solidFill>
              </a:defRPr>
            </a:lvl1pPr>
          </a:lstStyle>
          <a:p>
            <a:fld id="{82EE24B5-652C-4DB5-B7C3-B5BBEC1280B1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64101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rofessionals collaborating at a table over a laptop">
            <a:extLst>
              <a:ext uri="{FF2B5EF4-FFF2-40B4-BE49-F238E27FC236}">
                <a16:creationId xmlns:a16="http://schemas.microsoft.com/office/drawing/2014/main" id="{1E745F20-F130-4708-BD5A-1A4FF4BE4D0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89460" cy="6858000"/>
          </a:xfrm>
          <a:prstGeom prst="rect">
            <a:avLst/>
          </a:prstGeom>
        </p:spPr>
      </p:pic>
      <p:sp>
        <p:nvSpPr>
          <p:cNvPr id="4" name="object 3" descr="People with documents">
            <a:extLst>
              <a:ext uri="{FF2B5EF4-FFF2-40B4-BE49-F238E27FC236}">
                <a16:creationId xmlns:a16="http://schemas.microsoft.com/office/drawing/2014/main" id="{0CA2E80D-F3EC-4A5F-8E65-56FEA206EE0F}"/>
              </a:ext>
            </a:extLst>
          </p:cNvPr>
          <p:cNvSpPr/>
          <p:nvPr/>
        </p:nvSpPr>
        <p:spPr bwMode="ltGray">
          <a:xfrm>
            <a:off x="2540" y="0"/>
            <a:ext cx="1218946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69999"/>
            </a:schemeClr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B6C91D-4B22-49F1-9A0B-ABEB9E1F5A26}"/>
              </a:ext>
            </a:extLst>
          </p:cNvPr>
          <p:cNvSpPr>
            <a:spLocks noGrp="1"/>
          </p:cNvSpPr>
          <p:nvPr>
            <p:ph type="ctrTitle"/>
          </p:nvPr>
        </p:nvSpPr>
        <p:spPr bwMode="ltGray">
          <a:xfrm>
            <a:off x="1522730" y="508789"/>
            <a:ext cx="9144000" cy="2128049"/>
          </a:xfrm>
        </p:spPr>
        <p:txBody>
          <a:bodyPr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5000" dirty="0">
                <a:solidFill>
                  <a:schemeClr val="bg1"/>
                </a:solidFill>
              </a:rPr>
              <a:t>ML-Driven Bank Customer Churn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8CF06A-B594-4BA2-8B1E-D649096D742F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blackGray">
          <a:xfrm>
            <a:off x="2090057" y="4009902"/>
            <a:ext cx="7403417" cy="882001"/>
          </a:xfrm>
          <a:solidFill>
            <a:schemeClr val="accent2">
              <a:alpha val="90000"/>
            </a:schemeClr>
          </a:solidFill>
        </p:spPr>
        <p:txBody>
          <a:bodyPr anchor="ctr" anchorCtr="0">
            <a:normAutofit/>
          </a:bodyPr>
          <a:lstStyle/>
          <a:p>
            <a:r>
              <a:rPr lang="en-US" sz="2500" b="1" i="0" spc="65" dirty="0">
                <a:solidFill>
                  <a:schemeClr val="accent1"/>
                </a:solidFill>
                <a:cs typeface="Arial"/>
              </a:rPr>
              <a:t>Insights, Predictions and Evaluations</a:t>
            </a:r>
          </a:p>
        </p:txBody>
      </p:sp>
      <p:sp>
        <p:nvSpPr>
          <p:cNvPr id="6" name="object 7" descr="Beige rectangle">
            <a:extLst>
              <a:ext uri="{FF2B5EF4-FFF2-40B4-BE49-F238E27FC236}">
                <a16:creationId xmlns:a16="http://schemas.microsoft.com/office/drawing/2014/main" id="{B36975AA-C62E-46BE-9382-E2CF56FDF817}"/>
              </a:ext>
            </a:extLst>
          </p:cNvPr>
          <p:cNvSpPr/>
          <p:nvPr/>
        </p:nvSpPr>
        <p:spPr bwMode="white">
          <a:xfrm>
            <a:off x="4044000" y="3229869"/>
            <a:ext cx="4104000" cy="0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556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 descr="Beige rectangle">
            <a:extLst>
              <a:ext uri="{FF2B5EF4-FFF2-40B4-BE49-F238E27FC236}">
                <a16:creationId xmlns:a16="http://schemas.microsoft.com/office/drawing/2014/main" id="{DCF29767-6635-4A46-AB77-672CC90C6FBE}"/>
              </a:ext>
            </a:extLst>
          </p:cNvPr>
          <p:cNvSpPr/>
          <p:nvPr/>
        </p:nvSpPr>
        <p:spPr>
          <a:xfrm>
            <a:off x="7707086" y="779042"/>
            <a:ext cx="4484914" cy="4774033"/>
          </a:xfrm>
          <a:custGeom>
            <a:avLst/>
            <a:gdLst/>
            <a:ahLst/>
            <a:cxnLst/>
            <a:rect l="l" t="t" r="r" b="b"/>
            <a:pathLst>
              <a:path w="4010659" h="333375">
                <a:moveTo>
                  <a:pt x="0" y="333006"/>
                </a:moveTo>
                <a:lnTo>
                  <a:pt x="4010367" y="333006"/>
                </a:lnTo>
                <a:lnTo>
                  <a:pt x="4010367" y="0"/>
                </a:lnTo>
                <a:lnTo>
                  <a:pt x="0" y="0"/>
                </a:lnTo>
                <a:lnTo>
                  <a:pt x="0" y="33300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6" name="object 6" descr="Blue rectangle">
            <a:extLst>
              <a:ext uri="{FF2B5EF4-FFF2-40B4-BE49-F238E27FC236}">
                <a16:creationId xmlns:a16="http://schemas.microsoft.com/office/drawing/2014/main" id="{9FABC344-E043-45BE-8588-06C658DBCE70}"/>
              </a:ext>
            </a:extLst>
          </p:cNvPr>
          <p:cNvSpPr/>
          <p:nvPr/>
        </p:nvSpPr>
        <p:spPr>
          <a:xfrm>
            <a:off x="5878068" y="1692007"/>
            <a:ext cx="6313931" cy="4055650"/>
          </a:xfrm>
          <a:custGeom>
            <a:avLst/>
            <a:gdLst/>
            <a:ahLst/>
            <a:cxnLst/>
            <a:rect l="l" t="t" r="r" b="b"/>
            <a:pathLst>
              <a:path w="6689725" h="3528060">
                <a:moveTo>
                  <a:pt x="0" y="3527996"/>
                </a:moveTo>
                <a:lnTo>
                  <a:pt x="6689648" y="3527996"/>
                </a:lnTo>
                <a:lnTo>
                  <a:pt x="6689648" y="0"/>
                </a:lnTo>
                <a:lnTo>
                  <a:pt x="0" y="0"/>
                </a:lnTo>
                <a:lnTo>
                  <a:pt x="0" y="352799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5C5720-51D4-4632-91CD-936B8AB96750}"/>
              </a:ext>
            </a:extLst>
          </p:cNvPr>
          <p:cNvSpPr>
            <a:spLocks noGrp="1"/>
          </p:cNvSpPr>
          <p:nvPr>
            <p:ph type="title"/>
          </p:nvPr>
        </p:nvSpPr>
        <p:spPr bwMode="white">
          <a:xfrm>
            <a:off x="6096000" y="1775707"/>
            <a:ext cx="5165558" cy="83385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Goal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D506CC-0185-443E-82C7-1600C21D6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2</a:t>
            </a:fld>
            <a:endParaRPr lang="en-US" dirty="0"/>
          </a:p>
        </p:txBody>
      </p:sp>
      <p:sp>
        <p:nvSpPr>
          <p:cNvPr id="7" name="object 9" descr="Beige rectangle">
            <a:extLst>
              <a:ext uri="{FF2B5EF4-FFF2-40B4-BE49-F238E27FC236}">
                <a16:creationId xmlns:a16="http://schemas.microsoft.com/office/drawing/2014/main" id="{02C6628C-972C-4717-AAF3-D882B30F6658}"/>
              </a:ext>
            </a:extLst>
          </p:cNvPr>
          <p:cNvSpPr/>
          <p:nvPr/>
        </p:nvSpPr>
        <p:spPr bwMode="white">
          <a:xfrm>
            <a:off x="6096000" y="2467658"/>
            <a:ext cx="2970000" cy="0"/>
          </a:xfrm>
          <a:custGeom>
            <a:avLst/>
            <a:gdLst/>
            <a:ahLst/>
            <a:cxnLst/>
            <a:rect l="l" t="t" r="r" b="b"/>
            <a:pathLst>
              <a:path w="2642870">
                <a:moveTo>
                  <a:pt x="0" y="0"/>
                </a:moveTo>
                <a:lnTo>
                  <a:pt x="2642616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7A818AB-B120-41D5-88A6-933AB9CAAE68}"/>
              </a:ext>
            </a:extLst>
          </p:cNvPr>
          <p:cNvSpPr txBox="1">
            <a:spLocks/>
          </p:cNvSpPr>
          <p:nvPr/>
        </p:nvSpPr>
        <p:spPr bwMode="white">
          <a:xfrm>
            <a:off x="6188242" y="2693263"/>
            <a:ext cx="5181600" cy="264944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100" spc="-25" dirty="0">
                <a:solidFill>
                  <a:schemeClr val="bg2">
                    <a:lumMod val="20000"/>
                    <a:lumOff val="8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Build a predictive model to classify customers as likely to churn (Exited = 1) or stay (Exited = 0).</a:t>
            </a:r>
          </a:p>
          <a:p>
            <a:r>
              <a:rPr lang="en-US" sz="2100" spc="-25" dirty="0">
                <a:solidFill>
                  <a:schemeClr val="bg2">
                    <a:lumMod val="20000"/>
                    <a:lumOff val="8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Identify key factors influencing customer attrition.</a:t>
            </a:r>
          </a:p>
          <a:p>
            <a:r>
              <a:rPr lang="en-US" sz="2100" spc="-25" dirty="0">
                <a:solidFill>
                  <a:schemeClr val="bg2">
                    <a:lumMod val="20000"/>
                    <a:lumOff val="8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Provide actionable insights for customer retention strategies.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544FC3E7-E1DE-0959-158C-7F72CF36F9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6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99" y="779042"/>
            <a:ext cx="5799670" cy="3661042"/>
          </a:xfrm>
          <a:prstGeom prst="rect">
            <a:avLst/>
          </a:prstGeom>
          <a:noFill/>
          <a:effectLst>
            <a:reflection stA="85000" endPos="6500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793949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87AAD-5B43-105C-4385-7389F6825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 descr="Beige rectangle">
            <a:extLst>
              <a:ext uri="{FF2B5EF4-FFF2-40B4-BE49-F238E27FC236}">
                <a16:creationId xmlns:a16="http://schemas.microsoft.com/office/drawing/2014/main" id="{25567444-F026-6042-377E-DAA723646170}"/>
              </a:ext>
            </a:extLst>
          </p:cNvPr>
          <p:cNvSpPr/>
          <p:nvPr/>
        </p:nvSpPr>
        <p:spPr>
          <a:xfrm>
            <a:off x="7707086" y="779042"/>
            <a:ext cx="4484914" cy="4774033"/>
          </a:xfrm>
          <a:custGeom>
            <a:avLst/>
            <a:gdLst/>
            <a:ahLst/>
            <a:cxnLst/>
            <a:rect l="l" t="t" r="r" b="b"/>
            <a:pathLst>
              <a:path w="4010659" h="333375">
                <a:moveTo>
                  <a:pt x="0" y="333006"/>
                </a:moveTo>
                <a:lnTo>
                  <a:pt x="4010367" y="333006"/>
                </a:lnTo>
                <a:lnTo>
                  <a:pt x="4010367" y="0"/>
                </a:lnTo>
                <a:lnTo>
                  <a:pt x="0" y="0"/>
                </a:lnTo>
                <a:lnTo>
                  <a:pt x="0" y="33300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6" name="object 6" descr="Blue rectangle">
            <a:extLst>
              <a:ext uri="{FF2B5EF4-FFF2-40B4-BE49-F238E27FC236}">
                <a16:creationId xmlns:a16="http://schemas.microsoft.com/office/drawing/2014/main" id="{BEBC071D-808A-13FD-532F-CEF52746BD29}"/>
              </a:ext>
            </a:extLst>
          </p:cNvPr>
          <p:cNvSpPr/>
          <p:nvPr/>
        </p:nvSpPr>
        <p:spPr>
          <a:xfrm>
            <a:off x="5878068" y="1692007"/>
            <a:ext cx="6313931" cy="4055650"/>
          </a:xfrm>
          <a:custGeom>
            <a:avLst/>
            <a:gdLst/>
            <a:ahLst/>
            <a:cxnLst/>
            <a:rect l="l" t="t" r="r" b="b"/>
            <a:pathLst>
              <a:path w="6689725" h="3528060">
                <a:moveTo>
                  <a:pt x="0" y="3527996"/>
                </a:moveTo>
                <a:lnTo>
                  <a:pt x="6689648" y="3527996"/>
                </a:lnTo>
                <a:lnTo>
                  <a:pt x="6689648" y="0"/>
                </a:lnTo>
                <a:lnTo>
                  <a:pt x="0" y="0"/>
                </a:lnTo>
                <a:lnTo>
                  <a:pt x="0" y="352799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F58682-9C01-27A7-8ABC-6224AAF8C3FA}"/>
              </a:ext>
            </a:extLst>
          </p:cNvPr>
          <p:cNvSpPr>
            <a:spLocks noGrp="1"/>
          </p:cNvSpPr>
          <p:nvPr>
            <p:ph type="title"/>
          </p:nvPr>
        </p:nvSpPr>
        <p:spPr bwMode="white">
          <a:xfrm>
            <a:off x="6096000" y="1775707"/>
            <a:ext cx="5165558" cy="83385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Introduction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CC4117-20F3-516C-F9DC-A1CA9C63D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3</a:t>
            </a:fld>
            <a:endParaRPr lang="en-US" dirty="0"/>
          </a:p>
        </p:txBody>
      </p:sp>
      <p:sp>
        <p:nvSpPr>
          <p:cNvPr id="7" name="object 9" descr="Beige rectangle">
            <a:extLst>
              <a:ext uri="{FF2B5EF4-FFF2-40B4-BE49-F238E27FC236}">
                <a16:creationId xmlns:a16="http://schemas.microsoft.com/office/drawing/2014/main" id="{FB11A4CC-8203-A5A0-2C77-BFD94DB619BE}"/>
              </a:ext>
            </a:extLst>
          </p:cNvPr>
          <p:cNvSpPr/>
          <p:nvPr/>
        </p:nvSpPr>
        <p:spPr bwMode="white">
          <a:xfrm>
            <a:off x="6096000" y="2467658"/>
            <a:ext cx="2970000" cy="0"/>
          </a:xfrm>
          <a:custGeom>
            <a:avLst/>
            <a:gdLst/>
            <a:ahLst/>
            <a:cxnLst/>
            <a:rect l="l" t="t" r="r" b="b"/>
            <a:pathLst>
              <a:path w="2642870">
                <a:moveTo>
                  <a:pt x="0" y="0"/>
                </a:moveTo>
                <a:lnTo>
                  <a:pt x="2642616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B46E1FD4-1FD1-9D14-AB35-8101A74E6AC9}"/>
              </a:ext>
            </a:extLst>
          </p:cNvPr>
          <p:cNvSpPr txBox="1">
            <a:spLocks/>
          </p:cNvSpPr>
          <p:nvPr/>
        </p:nvSpPr>
        <p:spPr bwMode="white">
          <a:xfrm>
            <a:off x="6188242" y="2693263"/>
            <a:ext cx="5181600" cy="264944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i="1" spc="-25" dirty="0">
                <a:solidFill>
                  <a:schemeClr val="accent2">
                    <a:lumMod val="60000"/>
                    <a:lumOff val="4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Customer Churn:</a:t>
            </a:r>
            <a:r>
              <a:rPr lang="en-US" sz="1800" b="1" i="1" spc="-25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 </a:t>
            </a:r>
            <a:r>
              <a:rPr lang="en-US" sz="180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Customers leaving a service or a bank</a:t>
            </a:r>
          </a:p>
          <a:p>
            <a:r>
              <a:rPr lang="en-US" sz="18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Importance</a:t>
            </a:r>
            <a:r>
              <a:rPr lang="en-US" sz="1800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of churn prediction in the banking industry: </a:t>
            </a:r>
          </a:p>
          <a:p>
            <a:pPr>
              <a:buNone/>
            </a:pPr>
            <a:r>
              <a:rPr lang="en-US" sz="1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 Retaining valuable customers. </a:t>
            </a:r>
          </a:p>
          <a:p>
            <a:pPr>
              <a:buNone/>
            </a:pPr>
            <a:r>
              <a:rPr lang="en-US" sz="1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 Enhancing customer satisfaction. 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 Driving business strategy.</a:t>
            </a:r>
          </a:p>
          <a:p>
            <a:endParaRPr lang="en-US" sz="1800" b="1" i="1" spc="-25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73AE40-72E6-1F65-088F-41FB62F75E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222" y="1017192"/>
            <a:ext cx="5430008" cy="3000794"/>
          </a:xfrm>
          <a:prstGeom prst="rect">
            <a:avLst/>
          </a:prstGeom>
          <a:effectLst>
            <a:reflection blurRad="101600" stA="99000" endPos="65000" dist="3302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466197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Blue rectangle">
            <a:extLst>
              <a:ext uri="{FF2B5EF4-FFF2-40B4-BE49-F238E27FC236}">
                <a16:creationId xmlns:a16="http://schemas.microsoft.com/office/drawing/2014/main" id="{7D87B918-371C-4B31-9C7A-1D9A08C8A3BB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8" name="object 3" descr="Blue rectangle">
            <a:extLst>
              <a:ext uri="{FF2B5EF4-FFF2-40B4-BE49-F238E27FC236}">
                <a16:creationId xmlns:a16="http://schemas.microsoft.com/office/drawing/2014/main" id="{A277388B-76FD-44C4-B506-F8A157E57C65}"/>
              </a:ext>
            </a:extLst>
          </p:cNvPr>
          <p:cNvSpPr/>
          <p:nvPr/>
        </p:nvSpPr>
        <p:spPr>
          <a:xfrm>
            <a:off x="0" y="0"/>
            <a:ext cx="1218960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69999"/>
            </a:schemeClr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9" name="Oval 8" descr="Beige oval">
            <a:extLst>
              <a:ext uri="{FF2B5EF4-FFF2-40B4-BE49-F238E27FC236}">
                <a16:creationId xmlns:a16="http://schemas.microsoft.com/office/drawing/2014/main" id="{1191A09B-8CB4-416A-B1F9-ABC3B476DE1F}"/>
              </a:ext>
            </a:extLst>
          </p:cNvPr>
          <p:cNvSpPr/>
          <p:nvPr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D00B79-44BB-4D5F-B51D-2270A854D77A}"/>
              </a:ext>
            </a:extLst>
          </p:cNvPr>
          <p:cNvSpPr>
            <a:spLocks noGrp="1"/>
          </p:cNvSpPr>
          <p:nvPr>
            <p:ph type="title"/>
          </p:nvPr>
        </p:nvSpPr>
        <p:spPr bwMode="white">
          <a:xfrm>
            <a:off x="-2733" y="-145516"/>
            <a:ext cx="10515600" cy="783227"/>
          </a:xfrm>
        </p:spPr>
        <p:txBody>
          <a:bodyPr/>
          <a:lstStyle/>
          <a:p>
            <a:r>
              <a:rPr lang="en-US" dirty="0" err="1">
                <a:solidFill>
                  <a:schemeClr val="bg1"/>
                </a:solidFill>
              </a:rPr>
              <a:t>DataSet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F3C1EE-D9A0-406A-9A3A-75C82527E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4</a:t>
            </a:fld>
            <a:endParaRPr lang="en-US" dirty="0"/>
          </a:p>
        </p:txBody>
      </p:sp>
      <p:sp>
        <p:nvSpPr>
          <p:cNvPr id="11" name="object 5" descr="Beige rectangle">
            <a:extLst>
              <a:ext uri="{FF2B5EF4-FFF2-40B4-BE49-F238E27FC236}">
                <a16:creationId xmlns:a16="http://schemas.microsoft.com/office/drawing/2014/main" id="{B07BA1F9-2C19-4C07-B29B-18B9FBCC4755}"/>
              </a:ext>
            </a:extLst>
          </p:cNvPr>
          <p:cNvSpPr/>
          <p:nvPr/>
        </p:nvSpPr>
        <p:spPr bwMode="white">
          <a:xfrm flipV="1">
            <a:off x="-2400" y="112299"/>
            <a:ext cx="4536000" cy="421190"/>
          </a:xfrm>
          <a:custGeom>
            <a:avLst/>
            <a:gdLst/>
            <a:ahLst/>
            <a:cxnLst/>
            <a:rect l="l" t="t" r="r" b="b"/>
            <a:pathLst>
              <a:path w="3931920">
                <a:moveTo>
                  <a:pt x="0" y="0"/>
                </a:moveTo>
                <a:lnTo>
                  <a:pt x="3931920" y="0"/>
                </a:lnTo>
              </a:path>
            </a:pathLst>
          </a:custGeom>
          <a:ln w="54864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graphicFrame>
        <p:nvGraphicFramePr>
          <p:cNvPr id="6" name="Content Placeholder 12" descr="Table">
            <a:extLst>
              <a:ext uri="{FF2B5EF4-FFF2-40B4-BE49-F238E27FC236}">
                <a16:creationId xmlns:a16="http://schemas.microsoft.com/office/drawing/2014/main" id="{02559745-1573-BA86-E5BC-F9A12BAB8E0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11717751"/>
              </p:ext>
            </p:extLst>
          </p:nvPr>
        </p:nvGraphicFramePr>
        <p:xfrm>
          <a:off x="18520" y="620374"/>
          <a:ext cx="12001202" cy="10811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240">
                  <a:extLst>
                    <a:ext uri="{9D8B030D-6E8A-4147-A177-3AD203B41FA5}">
                      <a16:colId xmlns:a16="http://schemas.microsoft.com/office/drawing/2014/main" val="3572385518"/>
                    </a:ext>
                  </a:extLst>
                </a:gridCol>
                <a:gridCol w="2400240">
                  <a:extLst>
                    <a:ext uri="{9D8B030D-6E8A-4147-A177-3AD203B41FA5}">
                      <a16:colId xmlns:a16="http://schemas.microsoft.com/office/drawing/2014/main" val="1440817424"/>
                    </a:ext>
                  </a:extLst>
                </a:gridCol>
                <a:gridCol w="2400242">
                  <a:extLst>
                    <a:ext uri="{9D8B030D-6E8A-4147-A177-3AD203B41FA5}">
                      <a16:colId xmlns:a16="http://schemas.microsoft.com/office/drawing/2014/main" val="1835666774"/>
                    </a:ext>
                  </a:extLst>
                </a:gridCol>
                <a:gridCol w="2400240">
                  <a:extLst>
                    <a:ext uri="{9D8B030D-6E8A-4147-A177-3AD203B41FA5}">
                      <a16:colId xmlns:a16="http://schemas.microsoft.com/office/drawing/2014/main" val="3312468757"/>
                    </a:ext>
                  </a:extLst>
                </a:gridCol>
                <a:gridCol w="2400240">
                  <a:extLst>
                    <a:ext uri="{9D8B030D-6E8A-4147-A177-3AD203B41FA5}">
                      <a16:colId xmlns:a16="http://schemas.microsoft.com/office/drawing/2014/main" val="388103177"/>
                    </a:ext>
                  </a:extLst>
                </a:gridCol>
              </a:tblGrid>
              <a:tr h="326934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>
                          <a:solidFill>
                            <a:schemeClr val="accent1"/>
                          </a:solidFill>
                          <a:latin typeface="+mj-lt"/>
                        </a:rPr>
                        <a:t>10,000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>
                          <a:solidFill>
                            <a:schemeClr val="accent1"/>
                          </a:solidFill>
                          <a:latin typeface="+mj-lt"/>
                        </a:rPr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>
                          <a:solidFill>
                            <a:schemeClr val="accent1"/>
                          </a:solidFill>
                          <a:latin typeface="+mj-lt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>
                          <a:solidFill>
                            <a:schemeClr val="accent1"/>
                          </a:solidFill>
                          <a:latin typeface="+mj-lt"/>
                        </a:rPr>
                        <a:t>2+3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>
                          <a:solidFill>
                            <a:schemeClr val="accent1"/>
                          </a:solidFill>
                          <a:latin typeface="+mj-lt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8120738"/>
                  </a:ext>
                </a:extLst>
              </a:tr>
              <a:tr h="5325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a-DK" sz="1800" b="0" i="1" u="none" strike="noStrike" kern="1200" cap="none" spc="-25" normalizeH="0" baseline="0" noProof="0" dirty="0">
                          <a:ln>
                            <a:noFill/>
                          </a:ln>
                          <a:solidFill>
                            <a:srgbClr val="64B2C1">
                              <a:lumMod val="20000"/>
                              <a:lumOff val="80000"/>
                            </a:srgbClr>
                          </a:solidFill>
                          <a:effectLst/>
                          <a:uLnTx/>
                          <a:uFillTx/>
                          <a:latin typeface="Arial "/>
                          <a:ea typeface="+mn-ea"/>
                          <a:cs typeface="Arial"/>
                        </a:rPr>
                        <a:t>rows</a:t>
                      </a:r>
                      <a:endParaRPr kumimoji="0" lang="en-US" sz="1800" b="0" i="1" u="none" strike="noStrike" kern="1200" cap="none" spc="-25" normalizeH="0" baseline="0" noProof="0" dirty="0">
                        <a:ln>
                          <a:noFill/>
                        </a:ln>
                        <a:solidFill>
                          <a:srgbClr val="64B2C1">
                            <a:lumMod val="20000"/>
                            <a:lumOff val="80000"/>
                          </a:srgbClr>
                        </a:solidFill>
                        <a:effectLst/>
                        <a:uLnTx/>
                        <a:uFillTx/>
                        <a:latin typeface="Arial "/>
                        <a:ea typeface="+mn-ea"/>
                        <a:cs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a-DK" sz="1800" b="0" i="1" u="none" strike="noStrike" kern="1200" cap="none" spc="-25" normalizeH="0" baseline="0" noProof="0" dirty="0">
                          <a:ln>
                            <a:noFill/>
                          </a:ln>
                          <a:solidFill>
                            <a:srgbClr val="64B2C1">
                              <a:lumMod val="20000"/>
                              <a:lumOff val="80000"/>
                            </a:srgbClr>
                          </a:solidFill>
                          <a:effectLst/>
                          <a:uLnTx/>
                          <a:uFillTx/>
                          <a:latin typeface="Arial "/>
                          <a:ea typeface="+mn-ea"/>
                          <a:cs typeface="Arial"/>
                        </a:rPr>
                        <a:t>features</a:t>
                      </a:r>
                      <a:endParaRPr kumimoji="0" lang="en-US" sz="1800" b="0" i="1" u="none" strike="noStrike" kern="1200" cap="none" spc="-25" normalizeH="0" baseline="0" noProof="0" dirty="0">
                        <a:ln>
                          <a:noFill/>
                        </a:ln>
                        <a:solidFill>
                          <a:srgbClr val="64B2C1">
                            <a:lumMod val="20000"/>
                            <a:lumOff val="80000"/>
                          </a:srgbClr>
                        </a:solidFill>
                        <a:effectLst/>
                        <a:uLnTx/>
                        <a:uFillTx/>
                        <a:latin typeface="Arial "/>
                        <a:ea typeface="+mn-ea"/>
                        <a:cs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800" i="1" kern="1200" spc="-25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Numerical Features</a:t>
                      </a:r>
                      <a:endParaRPr lang="en-US" sz="1800" i="1" kern="1200" spc="-25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800" i="1" kern="1200" spc="-25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Categorical Features</a:t>
                      </a:r>
                      <a:endParaRPr lang="en-US" sz="1800" i="1" kern="1200" spc="-25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kern="1200" spc="-25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Target Column(Exited)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5001753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144F85D-9929-F17C-9964-23D4E05CE0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8144391"/>
              </p:ext>
            </p:extLst>
          </p:nvPr>
        </p:nvGraphicFramePr>
        <p:xfrm>
          <a:off x="142867" y="1573696"/>
          <a:ext cx="11418003" cy="5172004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2308785">
                  <a:extLst>
                    <a:ext uri="{9D8B030D-6E8A-4147-A177-3AD203B41FA5}">
                      <a16:colId xmlns:a16="http://schemas.microsoft.com/office/drawing/2014/main" val="4279049637"/>
                    </a:ext>
                  </a:extLst>
                </a:gridCol>
                <a:gridCol w="9109218">
                  <a:extLst>
                    <a:ext uri="{9D8B030D-6E8A-4147-A177-3AD203B41FA5}">
                      <a16:colId xmlns:a16="http://schemas.microsoft.com/office/drawing/2014/main" val="767525619"/>
                    </a:ext>
                  </a:extLst>
                </a:gridCol>
              </a:tblGrid>
              <a:tr h="364245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Features/Columns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8969717"/>
                  </a:ext>
                </a:extLst>
              </a:tr>
              <a:tr h="364245">
                <a:tc>
                  <a:txBody>
                    <a:bodyPr/>
                    <a:lstStyle/>
                    <a:p>
                      <a:r>
                        <a:rPr lang="en-US" sz="1600" b="1" kern="1200" dirty="0" err="1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CustomerId</a:t>
                      </a:r>
                      <a:endParaRPr lang="en-US" sz="1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kern="1200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Customer’s Unique Id</a:t>
                      </a:r>
                      <a:endParaRPr lang="en-US" sz="1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6422597"/>
                  </a:ext>
                </a:extLst>
              </a:tr>
              <a:tr h="364245">
                <a:tc>
                  <a:txBody>
                    <a:bodyPr/>
                    <a:lstStyle/>
                    <a:p>
                      <a:r>
                        <a:rPr lang="en-US" sz="1600" b="1" kern="1200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Surname</a:t>
                      </a:r>
                      <a:endParaRPr lang="en-US" sz="1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kern="1200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Customer’s Last Name</a:t>
                      </a:r>
                      <a:endParaRPr lang="en-US" sz="1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3935710"/>
                  </a:ext>
                </a:extLst>
              </a:tr>
              <a:tr h="392276">
                <a:tc>
                  <a:txBody>
                    <a:bodyPr/>
                    <a:lstStyle/>
                    <a:p>
                      <a:r>
                        <a:rPr lang="en-US" sz="1600" b="1" kern="1200" dirty="0" err="1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CreditScore</a:t>
                      </a:r>
                      <a:endParaRPr lang="en-US" sz="1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kern="1200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It is numeric value representing customer’s credit score (Ranges from 350  from 850)</a:t>
                      </a:r>
                      <a:endParaRPr lang="en-US" sz="1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4875073"/>
                  </a:ext>
                </a:extLst>
              </a:tr>
              <a:tr h="383637">
                <a:tc>
                  <a:txBody>
                    <a:bodyPr/>
                    <a:lstStyle/>
                    <a:p>
                      <a:r>
                        <a:rPr lang="en-US" sz="1600" b="1" kern="1200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Geography</a:t>
                      </a:r>
                      <a:endParaRPr lang="en-US" sz="1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kern="1200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Where Customer’s resides having 3 values (France, Spain and Germany)</a:t>
                      </a:r>
                      <a:endParaRPr lang="en-US" sz="1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434684"/>
                  </a:ext>
                </a:extLst>
              </a:tr>
              <a:tr h="389396">
                <a:tc>
                  <a:txBody>
                    <a:bodyPr/>
                    <a:lstStyle/>
                    <a:p>
                      <a:r>
                        <a:rPr lang="en-US" sz="1600" b="1" kern="1200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Gender</a:t>
                      </a:r>
                      <a:endParaRPr lang="en-US" sz="1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kern="1200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Customer’s Gender (Male or Female)</a:t>
                      </a:r>
                      <a:endParaRPr lang="en-US" sz="1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152005"/>
                  </a:ext>
                </a:extLst>
              </a:tr>
              <a:tr h="364245">
                <a:tc>
                  <a:txBody>
                    <a:bodyPr/>
                    <a:lstStyle/>
                    <a:p>
                      <a:r>
                        <a:rPr lang="en-US" sz="1600" b="1" kern="1200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Age</a:t>
                      </a:r>
                      <a:endParaRPr lang="en-US" sz="1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The customer's 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4653210"/>
                  </a:ext>
                </a:extLst>
              </a:tr>
              <a:tr h="364245">
                <a:tc>
                  <a:txBody>
                    <a:bodyPr/>
                    <a:lstStyle/>
                    <a:p>
                      <a:r>
                        <a:rPr lang="en-US" sz="1600" b="1" kern="1200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Tenure</a:t>
                      </a:r>
                      <a:endParaRPr lang="en-US" sz="1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The number of years the customer has been with the bank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1777388"/>
                  </a:ext>
                </a:extLst>
              </a:tr>
              <a:tr h="364245">
                <a:tc>
                  <a:txBody>
                    <a:bodyPr/>
                    <a:lstStyle/>
                    <a:p>
                      <a:r>
                        <a:rPr lang="en-US" sz="1600" b="1" kern="1200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Balance</a:t>
                      </a:r>
                      <a:endParaRPr lang="en-US" sz="1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The customer's account balance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900796"/>
                  </a:ext>
                </a:extLst>
              </a:tr>
              <a:tr h="364245">
                <a:tc>
                  <a:txBody>
                    <a:bodyPr/>
                    <a:lstStyle/>
                    <a:p>
                      <a:r>
                        <a:rPr lang="en-US" sz="1600" b="1" kern="1200" dirty="0" err="1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NumOfProducts</a:t>
                      </a:r>
                      <a:endParaRPr lang="en-US" sz="1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The number of bank products the customer uses (e.g., savings account, credit card)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619410"/>
                  </a:ext>
                </a:extLst>
              </a:tr>
              <a:tr h="364245">
                <a:tc>
                  <a:txBody>
                    <a:bodyPr/>
                    <a:lstStyle/>
                    <a:p>
                      <a:r>
                        <a:rPr lang="en-US" sz="1600" b="1" kern="1200" dirty="0" err="1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HasCrCard</a:t>
                      </a:r>
                      <a:endParaRPr lang="en-US" sz="1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Whether the customer has a credit card (1 = yes, 0 = no)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351413"/>
                  </a:ext>
                </a:extLst>
              </a:tr>
              <a:tr h="364245">
                <a:tc>
                  <a:txBody>
                    <a:bodyPr/>
                    <a:lstStyle/>
                    <a:p>
                      <a:r>
                        <a:rPr lang="en-US" sz="1600" b="1" kern="1200" dirty="0" err="1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IsActiveMember</a:t>
                      </a:r>
                      <a:endParaRPr lang="en-US" sz="1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Whether the customer is an active member (1 = yes, 0 = no)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6879627"/>
                  </a:ext>
                </a:extLst>
              </a:tr>
              <a:tr h="3642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Estimated Salary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The estimated salary of the customer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3428108"/>
                  </a:ext>
                </a:extLst>
              </a:tr>
              <a:tr h="3642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Exited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Whether the customer has churned (1 = yes, 0 = no)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9122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5367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20E7F-E5A7-F026-C8EE-A48D96EC6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206E2-3A3A-CD7C-27B3-5834D85BA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634" y="0"/>
            <a:ext cx="10515600" cy="1325563"/>
          </a:xfrm>
        </p:spPr>
        <p:txBody>
          <a:bodyPr/>
          <a:lstStyle/>
          <a:p>
            <a:r>
              <a:rPr lang="en-US" dirty="0"/>
              <a:t>Visualizations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9365D8-0037-7216-5C63-D91509CC9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object 18" descr="Beige rectangle">
            <a:extLst>
              <a:ext uri="{FF2B5EF4-FFF2-40B4-BE49-F238E27FC236}">
                <a16:creationId xmlns:a16="http://schemas.microsoft.com/office/drawing/2014/main" id="{41720AE8-C24F-784F-E79A-2A824C6908F3}"/>
              </a:ext>
            </a:extLst>
          </p:cNvPr>
          <p:cNvSpPr/>
          <p:nvPr/>
        </p:nvSpPr>
        <p:spPr>
          <a:xfrm flipV="1">
            <a:off x="556127" y="-98705"/>
            <a:ext cx="2630826" cy="981685"/>
          </a:xfrm>
          <a:custGeom>
            <a:avLst/>
            <a:gdLst/>
            <a:ahLst/>
            <a:cxnLst/>
            <a:rect l="l" t="t" r="r" b="b"/>
            <a:pathLst>
              <a:path w="3218815">
                <a:moveTo>
                  <a:pt x="0" y="0"/>
                </a:moveTo>
                <a:lnTo>
                  <a:pt x="3218395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3D155F3-3B68-1A59-15B1-8BD604B92B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590" y="1204541"/>
            <a:ext cx="4623495" cy="360487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DDE5818-4743-65B5-A7FC-F03865C6FA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5020" y="1204541"/>
            <a:ext cx="6426045" cy="38749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708086E-7330-D2E0-64A9-DD852A3FCCFF}"/>
              </a:ext>
            </a:extLst>
          </p:cNvPr>
          <p:cNvSpPr txBox="1"/>
          <p:nvPr/>
        </p:nvSpPr>
        <p:spPr>
          <a:xfrm>
            <a:off x="205626" y="5526157"/>
            <a:ext cx="116203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90A2"/>
                </a:solidFill>
              </a:rPr>
              <a:t>A 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</a:rPr>
              <a:t>bank churn rate of 20.37%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1800" dirty="0">
                <a:solidFill>
                  <a:srgbClr val="0090A2"/>
                </a:solidFill>
              </a:rPr>
              <a:t>indicates that approximately 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</a:rPr>
              <a:t>1 in 5 customers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1800" dirty="0">
                <a:solidFill>
                  <a:srgbClr val="0090A2"/>
                </a:solidFill>
              </a:rPr>
              <a:t>are leaving or closing their accounts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90A2"/>
                </a:solidFill>
              </a:rPr>
              <a:t>Even though men make up a larger portion of the overall customer base, women are leaving the bank at a higher rate</a:t>
            </a:r>
            <a:endParaRPr lang="en-US" sz="1800" dirty="0">
              <a:solidFill>
                <a:srgbClr val="0090A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5181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DBEE1-98D9-C743-3604-88B9F1107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EC4DD-290E-F293-5BDB-D52DC87F6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634" y="0"/>
            <a:ext cx="10515600" cy="1325563"/>
          </a:xfrm>
        </p:spPr>
        <p:txBody>
          <a:bodyPr/>
          <a:lstStyle/>
          <a:p>
            <a:r>
              <a:rPr lang="en-US" dirty="0"/>
              <a:t>Visualizations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D8252B-D3FC-5E37-1931-A57DF00CA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object 18" descr="Beige rectangle">
            <a:extLst>
              <a:ext uri="{FF2B5EF4-FFF2-40B4-BE49-F238E27FC236}">
                <a16:creationId xmlns:a16="http://schemas.microsoft.com/office/drawing/2014/main" id="{F853DD17-EC81-3DFE-A491-B963C0D00F9A}"/>
              </a:ext>
            </a:extLst>
          </p:cNvPr>
          <p:cNvSpPr/>
          <p:nvPr/>
        </p:nvSpPr>
        <p:spPr>
          <a:xfrm flipV="1">
            <a:off x="556128" y="-98706"/>
            <a:ext cx="2657720" cy="981685"/>
          </a:xfrm>
          <a:custGeom>
            <a:avLst/>
            <a:gdLst/>
            <a:ahLst/>
            <a:cxnLst/>
            <a:rect l="l" t="t" r="r" b="b"/>
            <a:pathLst>
              <a:path w="3218815">
                <a:moveTo>
                  <a:pt x="0" y="0"/>
                </a:moveTo>
                <a:lnTo>
                  <a:pt x="3218395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FD1AE1-0206-750F-70C5-6418704D5D4A}"/>
              </a:ext>
            </a:extLst>
          </p:cNvPr>
          <p:cNvSpPr txBox="1"/>
          <p:nvPr/>
        </p:nvSpPr>
        <p:spPr>
          <a:xfrm>
            <a:off x="977345" y="5528571"/>
            <a:ext cx="99788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Typically,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France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is having more customers, But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Germany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shows a higher churn rate compared to other two countries.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79A702-CFE2-BAFE-01B5-975947C681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956" y="1424265"/>
            <a:ext cx="6465540" cy="4021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927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ECF4D-5280-2989-B41E-D3747F48E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0662E-99A2-B6BC-F5CF-5C6904323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634" y="0"/>
            <a:ext cx="10515600" cy="1325563"/>
          </a:xfrm>
        </p:spPr>
        <p:txBody>
          <a:bodyPr/>
          <a:lstStyle/>
          <a:p>
            <a:r>
              <a:rPr lang="en-US" dirty="0"/>
              <a:t>Visualizations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ADE565-805F-A497-7855-7EB2A8712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7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837DBE-BE58-9DC5-ABC9-CF5933485D41}"/>
              </a:ext>
            </a:extLst>
          </p:cNvPr>
          <p:cNvSpPr txBox="1"/>
          <p:nvPr/>
        </p:nvSpPr>
        <p:spPr>
          <a:xfrm>
            <a:off x="556127" y="5251572"/>
            <a:ext cx="459850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number of credit card owners are higher than those who do not own a credit card.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85159F-5CF5-4FF5-BD48-AC3DF54C07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694" y="1325563"/>
            <a:ext cx="5578263" cy="36094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CE235C7-4A69-60FA-0802-0D7FFB6BED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0585" y="1516686"/>
            <a:ext cx="5332941" cy="351256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CC8D8A6-7C5F-2FE1-AA74-8169CF7A1AF2}"/>
              </a:ext>
            </a:extLst>
          </p:cNvPr>
          <p:cNvSpPr txBox="1"/>
          <p:nvPr/>
        </p:nvSpPr>
        <p:spPr>
          <a:xfrm>
            <a:off x="6700585" y="5238524"/>
            <a:ext cx="45985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Inactive member have a higher churn rate than active members</a:t>
            </a:r>
          </a:p>
        </p:txBody>
      </p:sp>
      <p:sp>
        <p:nvSpPr>
          <p:cNvPr id="12" name="object 18" descr="Beige rectangle">
            <a:extLst>
              <a:ext uri="{FF2B5EF4-FFF2-40B4-BE49-F238E27FC236}">
                <a16:creationId xmlns:a16="http://schemas.microsoft.com/office/drawing/2014/main" id="{F92E3105-E0CE-8D9D-6229-99E42C1354B2}"/>
              </a:ext>
            </a:extLst>
          </p:cNvPr>
          <p:cNvSpPr/>
          <p:nvPr/>
        </p:nvSpPr>
        <p:spPr>
          <a:xfrm flipV="1">
            <a:off x="556127" y="-98705"/>
            <a:ext cx="2630826" cy="981685"/>
          </a:xfrm>
          <a:custGeom>
            <a:avLst/>
            <a:gdLst/>
            <a:ahLst/>
            <a:cxnLst/>
            <a:rect l="l" t="t" r="r" b="b"/>
            <a:pathLst>
              <a:path w="3218815">
                <a:moveTo>
                  <a:pt x="0" y="0"/>
                </a:moveTo>
                <a:lnTo>
                  <a:pt x="3218395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840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16FB1-4660-0252-5DCC-3EED5272D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1CC67-0C63-DBE4-9B8D-A95E3615F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634" y="0"/>
            <a:ext cx="10515600" cy="1325563"/>
          </a:xfrm>
        </p:spPr>
        <p:txBody>
          <a:bodyPr/>
          <a:lstStyle/>
          <a:p>
            <a:r>
              <a:rPr lang="en-US" dirty="0"/>
              <a:t>Visualizations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A0F556-AC1C-FFD1-A072-DE656CFC5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8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C1C5D7-14E9-8846-A6AA-08EACA16FD37}"/>
              </a:ext>
            </a:extLst>
          </p:cNvPr>
          <p:cNvSpPr txBox="1"/>
          <p:nvPr/>
        </p:nvSpPr>
        <p:spPr>
          <a:xfrm>
            <a:off x="7203746" y="2081200"/>
            <a:ext cx="462221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Increased Complexity: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Customers with multiple products (3 or 4) might find it difficult to manage or understand the benefits of all the services they have subscribed to.</a:t>
            </a:r>
          </a:p>
          <a:p>
            <a:endParaRPr lang="en-US" dirty="0">
              <a:solidFill>
                <a:schemeClr val="accent2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Customer Expectations: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Higher product usage could mean customers expect superior service, better rewards, or personalized experiences. If these expectations are unmet, they might decide to leave.</a:t>
            </a:r>
          </a:p>
          <a:p>
            <a:endParaRPr lang="en-US" dirty="0">
              <a:solidFill>
                <a:schemeClr val="accent2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C2FAA3-AF14-AEF4-C246-789395A64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979" y="1112094"/>
            <a:ext cx="6732169" cy="5325731"/>
          </a:xfrm>
          <a:prstGeom prst="rect">
            <a:avLst/>
          </a:prstGeom>
        </p:spPr>
      </p:pic>
      <p:sp>
        <p:nvSpPr>
          <p:cNvPr id="11" name="object 18" descr="Beige rectangle">
            <a:extLst>
              <a:ext uri="{FF2B5EF4-FFF2-40B4-BE49-F238E27FC236}">
                <a16:creationId xmlns:a16="http://schemas.microsoft.com/office/drawing/2014/main" id="{29D8E163-BC67-4F63-DB86-3E3B9336AF18}"/>
              </a:ext>
            </a:extLst>
          </p:cNvPr>
          <p:cNvSpPr/>
          <p:nvPr/>
        </p:nvSpPr>
        <p:spPr>
          <a:xfrm flipV="1">
            <a:off x="556127" y="-98705"/>
            <a:ext cx="2630826" cy="981685"/>
          </a:xfrm>
          <a:custGeom>
            <a:avLst/>
            <a:gdLst/>
            <a:ahLst/>
            <a:cxnLst/>
            <a:rect l="l" t="t" r="r" b="b"/>
            <a:pathLst>
              <a:path w="3218815">
                <a:moveTo>
                  <a:pt x="0" y="0"/>
                </a:moveTo>
                <a:lnTo>
                  <a:pt x="3218395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497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6D695-0A40-A9E3-41E6-78975406E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C9309-2858-F058-EE21-116004068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634" y="0"/>
            <a:ext cx="10515600" cy="1325563"/>
          </a:xfrm>
        </p:spPr>
        <p:txBody>
          <a:bodyPr/>
          <a:lstStyle/>
          <a:p>
            <a:r>
              <a:rPr lang="en-US" dirty="0"/>
              <a:t>Visualizations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4E4B02-C55D-C5BE-3E31-C192AB4B1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AE83C4-8BAA-4E04-C269-BE9AC3302E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24346"/>
            <a:ext cx="6294044" cy="32331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829680E-C42E-293B-31F4-3DF8126915B4}"/>
              </a:ext>
            </a:extLst>
          </p:cNvPr>
          <p:cNvSpPr txBox="1"/>
          <p:nvPr/>
        </p:nvSpPr>
        <p:spPr>
          <a:xfrm>
            <a:off x="1259895" y="5434134"/>
            <a:ext cx="97535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There is no significant impact of </a:t>
            </a: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CreditScore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and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Tenure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on churn prediction, it suggests that this variable does not strongly correlate with whether a customer decides to leave the bank or stay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212532-41A1-4BF6-6C1D-FCB892EA67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8884" y="1502269"/>
            <a:ext cx="5527076" cy="3056480"/>
          </a:xfrm>
          <a:prstGeom prst="rect">
            <a:avLst/>
          </a:prstGeom>
        </p:spPr>
      </p:pic>
      <p:sp>
        <p:nvSpPr>
          <p:cNvPr id="9" name="object 18" descr="Beige rectangle">
            <a:extLst>
              <a:ext uri="{FF2B5EF4-FFF2-40B4-BE49-F238E27FC236}">
                <a16:creationId xmlns:a16="http://schemas.microsoft.com/office/drawing/2014/main" id="{B2E6BACE-1088-4E4D-8AA5-8FAF59878737}"/>
              </a:ext>
            </a:extLst>
          </p:cNvPr>
          <p:cNvSpPr/>
          <p:nvPr/>
        </p:nvSpPr>
        <p:spPr>
          <a:xfrm flipV="1">
            <a:off x="556127" y="-98705"/>
            <a:ext cx="2630826" cy="981685"/>
          </a:xfrm>
          <a:custGeom>
            <a:avLst/>
            <a:gdLst/>
            <a:ahLst/>
            <a:cxnLst/>
            <a:rect l="l" t="t" r="r" b="b"/>
            <a:pathLst>
              <a:path w="3218815">
                <a:moveTo>
                  <a:pt x="0" y="0"/>
                </a:moveTo>
                <a:lnTo>
                  <a:pt x="3218395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771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B65BF-1FFE-54A6-46BD-6CF33FB78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6EBC7-6BD1-39C1-BCA2-BDEE6C3C6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634" y="0"/>
            <a:ext cx="10515600" cy="1325563"/>
          </a:xfrm>
        </p:spPr>
        <p:txBody>
          <a:bodyPr/>
          <a:lstStyle/>
          <a:p>
            <a:r>
              <a:rPr lang="en-US" dirty="0"/>
              <a:t>Visualizations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DED119-4065-DE76-2863-54F574679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10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81B8A5-A0F9-3409-31BE-3822629FC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3427" y="511878"/>
            <a:ext cx="5645417" cy="30381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BD4754D-7715-61E0-4B1F-84E51DC817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471" y="3243161"/>
            <a:ext cx="6178148" cy="351666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2C55AAB-AD2E-BF70-BF0D-794D9E8581DE}"/>
              </a:ext>
            </a:extLst>
          </p:cNvPr>
          <p:cNvSpPr txBox="1"/>
          <p:nvPr/>
        </p:nvSpPr>
        <p:spPr>
          <a:xfrm>
            <a:off x="440634" y="1129554"/>
            <a:ext cx="523402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This Histogram plots shows the distribution of Balance and Estimated Salary</a:t>
            </a:r>
          </a:p>
          <a:p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The bar plot shows the No of the customers based on Age and Geography.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" name="object 18" descr="Beige rectangle">
            <a:extLst>
              <a:ext uri="{FF2B5EF4-FFF2-40B4-BE49-F238E27FC236}">
                <a16:creationId xmlns:a16="http://schemas.microsoft.com/office/drawing/2014/main" id="{845823EF-EC97-3B9C-42B9-F49480514872}"/>
              </a:ext>
            </a:extLst>
          </p:cNvPr>
          <p:cNvSpPr/>
          <p:nvPr/>
        </p:nvSpPr>
        <p:spPr>
          <a:xfrm flipV="1">
            <a:off x="556127" y="-98705"/>
            <a:ext cx="2630826" cy="981685"/>
          </a:xfrm>
          <a:custGeom>
            <a:avLst/>
            <a:gdLst/>
            <a:ahLst/>
            <a:cxnLst/>
            <a:rect l="l" t="t" r="r" b="b"/>
            <a:pathLst>
              <a:path w="3218815">
                <a:moveTo>
                  <a:pt x="0" y="0"/>
                </a:moveTo>
                <a:lnTo>
                  <a:pt x="3218395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929FA30-CE9C-5DC7-5580-1EFEB598D1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0638" y="3104119"/>
            <a:ext cx="5894891" cy="3516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271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8CB3A-8CAA-E67A-3F7D-730F7D81A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9ADF8-70E1-53E3-D2F8-A2AAE2FB3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634" y="0"/>
            <a:ext cx="10515600" cy="1325563"/>
          </a:xfrm>
        </p:spPr>
        <p:txBody>
          <a:bodyPr/>
          <a:lstStyle/>
          <a:p>
            <a:r>
              <a:rPr lang="en-US" dirty="0"/>
              <a:t>Visualizations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AD74FA-4255-7BFF-42D3-939A29967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11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3F4DBF-E3C5-439C-ABDF-90F5E75E6B5D}"/>
              </a:ext>
            </a:extLst>
          </p:cNvPr>
          <p:cNvSpPr txBox="1"/>
          <p:nvPr/>
        </p:nvSpPr>
        <p:spPr>
          <a:xfrm>
            <a:off x="861974" y="5740856"/>
            <a:ext cx="100942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This Histogram and Bar plots shows the distribution of 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The distribution of people with Age ranging from 31 to 40 is higher than other groups.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" name="object 18" descr="Beige rectangle">
            <a:extLst>
              <a:ext uri="{FF2B5EF4-FFF2-40B4-BE49-F238E27FC236}">
                <a16:creationId xmlns:a16="http://schemas.microsoft.com/office/drawing/2014/main" id="{51C802E6-00CA-0D47-6754-AC6E68708683}"/>
              </a:ext>
            </a:extLst>
          </p:cNvPr>
          <p:cNvSpPr/>
          <p:nvPr/>
        </p:nvSpPr>
        <p:spPr>
          <a:xfrm flipV="1">
            <a:off x="556127" y="-98705"/>
            <a:ext cx="2630826" cy="981685"/>
          </a:xfrm>
          <a:custGeom>
            <a:avLst/>
            <a:gdLst/>
            <a:ahLst/>
            <a:cxnLst/>
            <a:rect l="l" t="t" r="r" b="b"/>
            <a:pathLst>
              <a:path w="3218815">
                <a:moveTo>
                  <a:pt x="0" y="0"/>
                </a:moveTo>
                <a:lnTo>
                  <a:pt x="3218395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F8F4EE-8779-A2F9-6013-196AC7DCA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4609" y="1424268"/>
            <a:ext cx="5895128" cy="42178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81D5C4E-E34F-D9EB-03BB-F9EB8317BC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947" y="1546620"/>
            <a:ext cx="5046379" cy="3764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663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8EB68-46C2-F576-6D98-FE736B661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A1B5B-ED1D-82E4-1FA7-C3C1DDA54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634" y="0"/>
            <a:ext cx="10515600" cy="1325563"/>
          </a:xfrm>
        </p:spPr>
        <p:txBody>
          <a:bodyPr/>
          <a:lstStyle/>
          <a:p>
            <a:r>
              <a:rPr lang="en-US" dirty="0"/>
              <a:t>Exploratory Data Analysis (EDA)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3DC741-3C60-43A3-1A50-5A7471BE4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12</a:t>
            </a:fld>
            <a:endParaRPr lang="en-US" dirty="0"/>
          </a:p>
        </p:txBody>
      </p:sp>
      <p:sp>
        <p:nvSpPr>
          <p:cNvPr id="6" name="object 18" descr="Beige rectangle">
            <a:extLst>
              <a:ext uri="{FF2B5EF4-FFF2-40B4-BE49-F238E27FC236}">
                <a16:creationId xmlns:a16="http://schemas.microsoft.com/office/drawing/2014/main" id="{D2E0617C-4448-25A5-0425-C4626C998333}"/>
              </a:ext>
            </a:extLst>
          </p:cNvPr>
          <p:cNvSpPr/>
          <p:nvPr/>
        </p:nvSpPr>
        <p:spPr>
          <a:xfrm flipV="1">
            <a:off x="556127" y="-98703"/>
            <a:ext cx="6441022" cy="981685"/>
          </a:xfrm>
          <a:custGeom>
            <a:avLst/>
            <a:gdLst/>
            <a:ahLst/>
            <a:cxnLst/>
            <a:rect l="l" t="t" r="r" b="b"/>
            <a:pathLst>
              <a:path w="3218815">
                <a:moveTo>
                  <a:pt x="0" y="0"/>
                </a:moveTo>
                <a:lnTo>
                  <a:pt x="3218395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6984B8-488E-F64A-632D-B9C8C4AAA5D4}"/>
              </a:ext>
            </a:extLst>
          </p:cNvPr>
          <p:cNvSpPr txBox="1"/>
          <p:nvPr/>
        </p:nvSpPr>
        <p:spPr>
          <a:xfrm>
            <a:off x="7304807" y="2213805"/>
            <a:ext cx="385637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This Scatter plot shows the customer churn rate is more on the Age group between 40-65.</a:t>
            </a:r>
          </a:p>
          <a:p>
            <a:endParaRPr lang="en-US" dirty="0">
              <a:solidFill>
                <a:schemeClr val="accent2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There is no specific pattern on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CreditScore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CFDC5AC-06DE-23F3-4409-A74322ADE7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866" y="1078086"/>
            <a:ext cx="6781283" cy="509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7659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4C2D7-F2BC-53AF-C83D-C71E45C93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7A722-A878-6B71-DF76-9CD819405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634" y="0"/>
            <a:ext cx="10515600" cy="1325563"/>
          </a:xfrm>
        </p:spPr>
        <p:txBody>
          <a:bodyPr/>
          <a:lstStyle/>
          <a:p>
            <a:r>
              <a:rPr lang="en-US" dirty="0"/>
              <a:t>Exploratory Data Analysis (EDA)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151CC0-740B-1761-C455-71FE13691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13</a:t>
            </a:fld>
            <a:endParaRPr lang="en-US" dirty="0"/>
          </a:p>
        </p:txBody>
      </p:sp>
      <p:sp>
        <p:nvSpPr>
          <p:cNvPr id="6" name="object 18" descr="Beige rectangle">
            <a:extLst>
              <a:ext uri="{FF2B5EF4-FFF2-40B4-BE49-F238E27FC236}">
                <a16:creationId xmlns:a16="http://schemas.microsoft.com/office/drawing/2014/main" id="{E0D398CE-6A8C-127C-5801-F41D4B9FF97D}"/>
              </a:ext>
            </a:extLst>
          </p:cNvPr>
          <p:cNvSpPr/>
          <p:nvPr/>
        </p:nvSpPr>
        <p:spPr>
          <a:xfrm flipV="1">
            <a:off x="556127" y="-98703"/>
            <a:ext cx="6441022" cy="981685"/>
          </a:xfrm>
          <a:custGeom>
            <a:avLst/>
            <a:gdLst/>
            <a:ahLst/>
            <a:cxnLst/>
            <a:rect l="l" t="t" r="r" b="b"/>
            <a:pathLst>
              <a:path w="3218815">
                <a:moveTo>
                  <a:pt x="0" y="0"/>
                </a:moveTo>
                <a:lnTo>
                  <a:pt x="3218395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1FEC2F-BFCA-BD14-5C8B-AE293CCE01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338" y="1510229"/>
            <a:ext cx="6742600" cy="52028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35C332E-E8A0-B9DA-D661-82A8F36654AB}"/>
              </a:ext>
            </a:extLst>
          </p:cNvPr>
          <p:cNvSpPr txBox="1"/>
          <p:nvPr/>
        </p:nvSpPr>
        <p:spPr>
          <a:xfrm>
            <a:off x="556127" y="1140897"/>
            <a:ext cx="6441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Heatmap between variables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BB5943-46C4-147A-1164-E765CD82C6FA}"/>
              </a:ext>
            </a:extLst>
          </p:cNvPr>
          <p:cNvSpPr txBox="1"/>
          <p:nvPr/>
        </p:nvSpPr>
        <p:spPr>
          <a:xfrm>
            <a:off x="7765774" y="2911332"/>
            <a:ext cx="32997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By Heatmap, we can see that there is no significant correlation between the columns.  </a:t>
            </a:r>
          </a:p>
        </p:txBody>
      </p:sp>
    </p:spTree>
    <p:extLst>
      <p:ext uri="{BB962C8B-B14F-4D97-AF65-F5344CB8AC3E}">
        <p14:creationId xmlns:p14="http://schemas.microsoft.com/office/powerpoint/2010/main" val="2292995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AFB9F-11A9-D8A1-0100-CB911A114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0D09D-9C59-7F10-41EA-A4BEDC0E6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634" y="0"/>
            <a:ext cx="10515600" cy="1325563"/>
          </a:xfrm>
        </p:spPr>
        <p:txBody>
          <a:bodyPr/>
          <a:lstStyle/>
          <a:p>
            <a:r>
              <a:rPr lang="en-US" dirty="0"/>
              <a:t>Exploratory Data Analysis (EDA) &amp; </a:t>
            </a:r>
            <a:r>
              <a:rPr lang="en-US" dirty="0" err="1"/>
              <a:t>PreProcessing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74C9A5-C556-3112-E18F-6F7C6DA83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14</a:t>
            </a:fld>
            <a:endParaRPr lang="en-US" dirty="0"/>
          </a:p>
        </p:txBody>
      </p:sp>
      <p:sp>
        <p:nvSpPr>
          <p:cNvPr id="6" name="object 18" descr="Beige rectangle">
            <a:extLst>
              <a:ext uri="{FF2B5EF4-FFF2-40B4-BE49-F238E27FC236}">
                <a16:creationId xmlns:a16="http://schemas.microsoft.com/office/drawing/2014/main" id="{0DDCBA6B-6ACF-CE48-086F-E3206D23DFA8}"/>
              </a:ext>
            </a:extLst>
          </p:cNvPr>
          <p:cNvSpPr/>
          <p:nvPr/>
        </p:nvSpPr>
        <p:spPr>
          <a:xfrm flipV="1">
            <a:off x="556126" y="-98704"/>
            <a:ext cx="9582955" cy="981685"/>
          </a:xfrm>
          <a:custGeom>
            <a:avLst/>
            <a:gdLst/>
            <a:ahLst/>
            <a:cxnLst/>
            <a:rect l="l" t="t" r="r" b="b"/>
            <a:pathLst>
              <a:path w="3218815">
                <a:moveTo>
                  <a:pt x="0" y="0"/>
                </a:moveTo>
                <a:lnTo>
                  <a:pt x="3218395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A806DF-A72C-5E08-29C6-951F3CCE67D9}"/>
              </a:ext>
            </a:extLst>
          </p:cNvPr>
          <p:cNvSpPr txBox="1"/>
          <p:nvPr/>
        </p:nvSpPr>
        <p:spPr>
          <a:xfrm>
            <a:off x="556127" y="1567610"/>
            <a:ext cx="1061837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The data is clean, having no null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The columns “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CustomerId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” and “Surname” is not useful features for the prediction. Dropped the two columns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The categorical features “Geography” and “Gender” encoded to numerical format.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The data is unbalanced with target column, used SMOTE technique on X (All features except the target column) and Y(Target Column) for over sampling method. After SMOTE, the data is balanced on target column.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Then splitting the data into train(80%) and test(20%) using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train_test_split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Converting all numerical features to single normalize scale used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Standard Scaler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20550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57862-A3D2-E9DE-1904-228B09BD0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2EB7F-C1CE-7C3F-90EF-18752DC73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693" y="-98705"/>
            <a:ext cx="10515600" cy="1325563"/>
          </a:xfrm>
        </p:spPr>
        <p:txBody>
          <a:bodyPr/>
          <a:lstStyle/>
          <a:p>
            <a:r>
              <a:rPr lang="en-US" dirty="0"/>
              <a:t>Model Selection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9FE976-72F4-47F2-761B-9B3FD11F7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15</a:t>
            </a:fld>
            <a:endParaRPr lang="en-US" dirty="0"/>
          </a:p>
        </p:txBody>
      </p:sp>
      <p:sp>
        <p:nvSpPr>
          <p:cNvPr id="6" name="object 18" descr="Beige rectangle">
            <a:extLst>
              <a:ext uri="{FF2B5EF4-FFF2-40B4-BE49-F238E27FC236}">
                <a16:creationId xmlns:a16="http://schemas.microsoft.com/office/drawing/2014/main" id="{359703F9-51C0-4503-1938-3BB818E3AB5E}"/>
              </a:ext>
            </a:extLst>
          </p:cNvPr>
          <p:cNvSpPr/>
          <p:nvPr/>
        </p:nvSpPr>
        <p:spPr>
          <a:xfrm flipV="1">
            <a:off x="171693" y="-273518"/>
            <a:ext cx="3190072" cy="1092617"/>
          </a:xfrm>
          <a:custGeom>
            <a:avLst/>
            <a:gdLst/>
            <a:ahLst/>
            <a:cxnLst/>
            <a:rect l="l" t="t" r="r" b="b"/>
            <a:pathLst>
              <a:path w="3218815">
                <a:moveTo>
                  <a:pt x="0" y="0"/>
                </a:moveTo>
                <a:lnTo>
                  <a:pt x="3218395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56B1AE-A965-65BC-8918-F41DFE6A14C1}"/>
              </a:ext>
            </a:extLst>
          </p:cNvPr>
          <p:cNvSpPr txBox="1"/>
          <p:nvPr/>
        </p:nvSpPr>
        <p:spPr>
          <a:xfrm>
            <a:off x="194347" y="948690"/>
            <a:ext cx="1182596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Models Used:</a:t>
            </a:r>
          </a:p>
          <a:p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Logistic Regression: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is a supervised machine learning algorithm widely used for binary classification tasks</a:t>
            </a:r>
          </a:p>
          <a:p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Decision Tree: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is a flowchart-like diagram that shows the possible outcomes of a series of decisions</a:t>
            </a:r>
          </a:p>
          <a:p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Random Forest: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is a machine learning algorithm that uses an ensemble of decision trees to make predictions, combining the outputs of multiple trees to achieve a more accurate and robust result, particularly for classification and regression tasks</a:t>
            </a:r>
          </a:p>
          <a:p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Gradient Boosting Classifier: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is a machine learning technique that combines multiple weak learners (like decision trees) to create a strong predictive model, iteratively improving upon previous errors by focusing on misclassified instances</a:t>
            </a:r>
          </a:p>
          <a:p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KNN Classifier: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is a simple, supervised machine learning algorithm that classifies data points based on the majority class of their nearest neighbors in the feature space</a:t>
            </a:r>
          </a:p>
          <a:p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b="1" dirty="0" err="1">
                <a:solidFill>
                  <a:schemeClr val="accent2">
                    <a:lumMod val="75000"/>
                  </a:schemeClr>
                </a:solidFill>
              </a:rPr>
              <a:t>XGBoost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 Classifier: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is a powerful, open-source machine learning algorithm that uses gradient boosted decision trees, known for its speed, efficiency, and ability to handle large datasets</a:t>
            </a:r>
          </a:p>
          <a:p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SVM: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is a supervised learning algorithm used for both classification and regression tasks</a:t>
            </a:r>
          </a:p>
        </p:txBody>
      </p:sp>
    </p:spTree>
    <p:extLst>
      <p:ext uri="{BB962C8B-B14F-4D97-AF65-F5344CB8AC3E}">
        <p14:creationId xmlns:p14="http://schemas.microsoft.com/office/powerpoint/2010/main" val="31187060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8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8CDEC6-DC74-EF80-D260-51146655A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D90DA-7366-1C32-5F64-65BC51A71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634" y="0"/>
            <a:ext cx="10515600" cy="1325563"/>
          </a:xfrm>
        </p:spPr>
        <p:txBody>
          <a:bodyPr/>
          <a:lstStyle/>
          <a:p>
            <a:r>
              <a:rPr lang="en-US" dirty="0"/>
              <a:t>Model Evaluation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987CF6-DC68-688F-A4CD-75C5C81AB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16</a:t>
            </a:fld>
            <a:endParaRPr lang="en-US" dirty="0"/>
          </a:p>
        </p:txBody>
      </p:sp>
      <p:sp>
        <p:nvSpPr>
          <p:cNvPr id="6" name="object 18" descr="Beige rectangle">
            <a:extLst>
              <a:ext uri="{FF2B5EF4-FFF2-40B4-BE49-F238E27FC236}">
                <a16:creationId xmlns:a16="http://schemas.microsoft.com/office/drawing/2014/main" id="{FB9A85A8-1A9A-9D67-23DB-29E04CEEAC7B}"/>
              </a:ext>
            </a:extLst>
          </p:cNvPr>
          <p:cNvSpPr/>
          <p:nvPr/>
        </p:nvSpPr>
        <p:spPr>
          <a:xfrm flipV="1">
            <a:off x="556127" y="-98704"/>
            <a:ext cx="3209049" cy="981685"/>
          </a:xfrm>
          <a:custGeom>
            <a:avLst/>
            <a:gdLst/>
            <a:ahLst/>
            <a:cxnLst/>
            <a:rect l="l" t="t" r="r" b="b"/>
            <a:pathLst>
              <a:path w="3218815">
                <a:moveTo>
                  <a:pt x="0" y="0"/>
                </a:moveTo>
                <a:lnTo>
                  <a:pt x="3218395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>
              <a:highlight>
                <a:srgbClr val="FFFF0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24FD5F-300A-9D81-2179-89449AC06B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563" y="1202757"/>
            <a:ext cx="9936873" cy="478118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0D393E6-864E-66A4-3457-6822E089F58E}"/>
              </a:ext>
            </a:extLst>
          </p:cNvPr>
          <p:cNvSpPr/>
          <p:nvPr/>
        </p:nvSpPr>
        <p:spPr>
          <a:xfrm>
            <a:off x="874059" y="3429000"/>
            <a:ext cx="10190377" cy="383241"/>
          </a:xfrm>
          <a:prstGeom prst="rect">
            <a:avLst/>
          </a:prstGeom>
          <a:solidFill>
            <a:srgbClr val="FFC000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7927176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8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A33F10-ADC1-221C-4801-747CB5891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AB7BF-6A8D-E2E6-3108-530473428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634" y="0"/>
            <a:ext cx="10515600" cy="1325563"/>
          </a:xfrm>
        </p:spPr>
        <p:txBody>
          <a:bodyPr/>
          <a:lstStyle/>
          <a:p>
            <a:r>
              <a:rPr lang="en-US" dirty="0"/>
              <a:t>Model Evaluation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2AF3F3-77F0-8A92-553C-D8E2620EF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17</a:t>
            </a:fld>
            <a:endParaRPr lang="en-US" dirty="0"/>
          </a:p>
        </p:txBody>
      </p:sp>
      <p:sp>
        <p:nvSpPr>
          <p:cNvPr id="6" name="object 18" descr="Beige rectangle">
            <a:extLst>
              <a:ext uri="{FF2B5EF4-FFF2-40B4-BE49-F238E27FC236}">
                <a16:creationId xmlns:a16="http://schemas.microsoft.com/office/drawing/2014/main" id="{54685CB8-30CE-87A2-287C-546528F3028F}"/>
              </a:ext>
            </a:extLst>
          </p:cNvPr>
          <p:cNvSpPr/>
          <p:nvPr/>
        </p:nvSpPr>
        <p:spPr>
          <a:xfrm flipV="1">
            <a:off x="556127" y="-98704"/>
            <a:ext cx="3209049" cy="981685"/>
          </a:xfrm>
          <a:custGeom>
            <a:avLst/>
            <a:gdLst/>
            <a:ahLst/>
            <a:cxnLst/>
            <a:rect l="l" t="t" r="r" b="b"/>
            <a:pathLst>
              <a:path w="3218815">
                <a:moveTo>
                  <a:pt x="0" y="0"/>
                </a:moveTo>
                <a:lnTo>
                  <a:pt x="3218395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A493E6-1572-C2DC-E369-736B9D4780B5}"/>
              </a:ext>
            </a:extLst>
          </p:cNvPr>
          <p:cNvSpPr/>
          <p:nvPr/>
        </p:nvSpPr>
        <p:spPr>
          <a:xfrm>
            <a:off x="874059" y="3429000"/>
            <a:ext cx="10190377" cy="383241"/>
          </a:xfrm>
          <a:prstGeom prst="rect">
            <a:avLst/>
          </a:prstGeom>
          <a:solidFill>
            <a:srgbClr val="FFC000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C8EB94-7A5C-610F-C59E-F606846F99CA}"/>
              </a:ext>
            </a:extLst>
          </p:cNvPr>
          <p:cNvSpPr txBox="1"/>
          <p:nvPr/>
        </p:nvSpPr>
        <p:spPr>
          <a:xfrm>
            <a:off x="556127" y="1325563"/>
            <a:ext cx="10761814" cy="4657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Metrics used for evaluation: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Accuracy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: Overall correctness.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Precision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: Correct positive predictions.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Recall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: Ability to detect all churn cases.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F1 Score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: Balancing precision and recall.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ROC Curve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: Visualizing trade-offs between true positive and false positive rates.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Comparison of model performance: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Based on Metrics used for Evaluation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Random Forest with Tuned Parameters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gives best performing for Accuracy,  Precision, Recall, F1-Score and ROC-AUC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Hence, we use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Random Forest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Model as our final model.</a:t>
            </a:r>
          </a:p>
        </p:txBody>
      </p:sp>
    </p:spTree>
    <p:extLst>
      <p:ext uri="{BB962C8B-B14F-4D97-AF65-F5344CB8AC3E}">
        <p14:creationId xmlns:p14="http://schemas.microsoft.com/office/powerpoint/2010/main" val="27024575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6A35E-B30A-E0CC-852B-9361ADC80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Blue rectangle">
            <a:extLst>
              <a:ext uri="{FF2B5EF4-FFF2-40B4-BE49-F238E27FC236}">
                <a16:creationId xmlns:a16="http://schemas.microsoft.com/office/drawing/2014/main" id="{FACF4A02-3090-BA93-2BC5-6F5B5D5E8D80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8" name="object 3" descr="Blue rectangle">
            <a:extLst>
              <a:ext uri="{FF2B5EF4-FFF2-40B4-BE49-F238E27FC236}">
                <a16:creationId xmlns:a16="http://schemas.microsoft.com/office/drawing/2014/main" id="{79043C36-9BA6-425D-C4C2-5922C7F0FF96}"/>
              </a:ext>
            </a:extLst>
          </p:cNvPr>
          <p:cNvSpPr/>
          <p:nvPr/>
        </p:nvSpPr>
        <p:spPr>
          <a:xfrm>
            <a:off x="2400" y="0"/>
            <a:ext cx="1218960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69999"/>
            </a:schemeClr>
          </a:solidFill>
        </p:spPr>
        <p:txBody>
          <a:bodyPr wrap="square" lIns="0" tIns="0" rIns="0" bIns="0" rtlCol="0"/>
          <a:lstStyle/>
          <a:p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9" name="Oval 8" descr="Beige oval">
            <a:extLst>
              <a:ext uri="{FF2B5EF4-FFF2-40B4-BE49-F238E27FC236}">
                <a16:creationId xmlns:a16="http://schemas.microsoft.com/office/drawing/2014/main" id="{53A44C1E-9319-B22E-3308-AF160967C4CD}"/>
              </a:ext>
            </a:extLst>
          </p:cNvPr>
          <p:cNvSpPr/>
          <p:nvPr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F3191C-23C1-9D3C-F3CA-8AF59BECB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18</a:t>
            </a:fld>
            <a:endParaRPr lang="en-US" dirty="0"/>
          </a:p>
        </p:txBody>
      </p:sp>
      <p:sp>
        <p:nvSpPr>
          <p:cNvPr id="23" name="Content Placeholder 4">
            <a:extLst>
              <a:ext uri="{FF2B5EF4-FFF2-40B4-BE49-F238E27FC236}">
                <a16:creationId xmlns:a16="http://schemas.microsoft.com/office/drawing/2014/main" id="{7E1A3D4F-B24F-6C46-501B-A4B5DD34C95B}"/>
              </a:ext>
            </a:extLst>
          </p:cNvPr>
          <p:cNvSpPr txBox="1">
            <a:spLocks/>
          </p:cNvSpPr>
          <p:nvPr/>
        </p:nvSpPr>
        <p:spPr>
          <a:xfrm>
            <a:off x="243833" y="2023633"/>
            <a:ext cx="5852167" cy="3637171"/>
          </a:xfrm>
          <a:prstGeom prst="rect">
            <a:avLst/>
          </a:prstGeom>
          <a:solidFill>
            <a:schemeClr val="accent2"/>
          </a:solidFill>
        </p:spPr>
        <p:txBody>
          <a:bodyPr lIns="1548000" tIns="216000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100"/>
              </a:spcBef>
              <a:buFont typeface="Arial" panose="020B0604020202020204" pitchFamily="34" charset="0"/>
              <a:buNone/>
            </a:pPr>
            <a:r>
              <a:rPr lang="en-US" sz="2500" b="1" i="1" spc="60" dirty="0">
                <a:solidFill>
                  <a:schemeClr val="bg2">
                    <a:lumMod val="20000"/>
                    <a:lumOff val="80000"/>
                    <a:alpha val="90000"/>
                  </a:schemeClr>
                </a:solidFill>
                <a:cs typeface="Arial"/>
              </a:rPr>
              <a:t>Latha Reddy Palle</a:t>
            </a:r>
          </a:p>
          <a:p>
            <a:pPr marL="0" indent="0">
              <a:spcBef>
                <a:spcPts val="1100"/>
              </a:spcBef>
              <a:buFont typeface="Arial" panose="020B0604020202020204" pitchFamily="34" charset="0"/>
              <a:buNone/>
            </a:pPr>
            <a:r>
              <a:rPr lang="en-US" sz="2500" b="1" i="1" spc="60" dirty="0">
                <a:solidFill>
                  <a:schemeClr val="bg2">
                    <a:lumMod val="20000"/>
                    <a:lumOff val="80000"/>
                    <a:alpha val="90000"/>
                  </a:schemeClr>
                </a:solidFill>
                <a:cs typeface="Arial"/>
              </a:rPr>
              <a:t>latha.palle@gmail.com</a:t>
            </a:r>
            <a:endParaRPr lang="en-US" sz="2500" b="1" i="1" dirty="0">
              <a:solidFill>
                <a:schemeClr val="bg2">
                  <a:lumMod val="20000"/>
                  <a:lumOff val="80000"/>
                  <a:alpha val="90000"/>
                </a:schemeClr>
              </a:solidFill>
              <a:cs typeface="Arial"/>
            </a:endParaRPr>
          </a:p>
          <a:p>
            <a:pPr marL="0" indent="0">
              <a:lnSpc>
                <a:spcPct val="125000"/>
              </a:lnSpc>
              <a:buFont typeface="Arial" panose="020B0604020202020204" pitchFamily="34" charset="0"/>
              <a:buNone/>
            </a:pPr>
            <a:endParaRPr lang="en-US" sz="2500" b="1" dirty="0">
              <a:solidFill>
                <a:schemeClr val="bg2">
                  <a:alpha val="90000"/>
                </a:schemeClr>
              </a:solidFill>
            </a:endParaRPr>
          </a:p>
        </p:txBody>
      </p:sp>
      <p:pic>
        <p:nvPicPr>
          <p:cNvPr id="24" name="Graphic 23" descr="Person icon">
            <a:extLst>
              <a:ext uri="{FF2B5EF4-FFF2-40B4-BE49-F238E27FC236}">
                <a16:creationId xmlns:a16="http://schemas.microsoft.com/office/drawing/2014/main" id="{F10CCCC0-3916-C02A-8949-547BD791CC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99063" y="4190952"/>
            <a:ext cx="342900" cy="352425"/>
          </a:xfrm>
          <a:prstGeom prst="rect">
            <a:avLst/>
          </a:prstGeom>
        </p:spPr>
      </p:pic>
      <p:pic>
        <p:nvPicPr>
          <p:cNvPr id="25" name="Graphic 24" descr="Mail icon">
            <a:extLst>
              <a:ext uri="{FF2B5EF4-FFF2-40B4-BE49-F238E27FC236}">
                <a16:creationId xmlns:a16="http://schemas.microsoft.com/office/drawing/2014/main" id="{822FAE1C-C5DF-E321-AA8D-D86F9B6F0F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99066" y="4654823"/>
            <a:ext cx="342900" cy="342900"/>
          </a:xfrm>
          <a:prstGeom prst="rect">
            <a:avLst/>
          </a:prstGeom>
        </p:spPr>
      </p:pic>
      <p:sp>
        <p:nvSpPr>
          <p:cNvPr id="26" name="object 6" descr="Beige rectangle">
            <a:extLst>
              <a:ext uri="{FF2B5EF4-FFF2-40B4-BE49-F238E27FC236}">
                <a16:creationId xmlns:a16="http://schemas.microsoft.com/office/drawing/2014/main" id="{CB909D7F-F110-D8A1-D315-8F04F22476CF}"/>
              </a:ext>
            </a:extLst>
          </p:cNvPr>
          <p:cNvSpPr/>
          <p:nvPr/>
        </p:nvSpPr>
        <p:spPr bwMode="ltGray">
          <a:xfrm>
            <a:off x="1116734" y="3027122"/>
            <a:ext cx="4176000" cy="0"/>
          </a:xfrm>
          <a:custGeom>
            <a:avLst/>
            <a:gdLst/>
            <a:ahLst/>
            <a:cxnLst/>
            <a:rect l="l" t="t" r="r" b="b"/>
            <a:pathLst>
              <a:path w="4206240">
                <a:moveTo>
                  <a:pt x="0" y="0"/>
                </a:moveTo>
                <a:lnTo>
                  <a:pt x="4206240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343F4B3B-D6AB-C4FC-EBA1-872B2492BD5D}"/>
              </a:ext>
            </a:extLst>
          </p:cNvPr>
          <p:cNvSpPr txBox="1">
            <a:spLocks/>
          </p:cNvSpPr>
          <p:nvPr/>
        </p:nvSpPr>
        <p:spPr bwMode="ltGray">
          <a:xfrm>
            <a:off x="935237" y="1989573"/>
            <a:ext cx="485921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000" dirty="0">
                <a:solidFill>
                  <a:schemeClr val="bg1"/>
                </a:solidFill>
              </a:rPr>
              <a:t>THANK YOU!</a:t>
            </a:r>
            <a:endParaRPr lang="en-US" sz="5000" dirty="0"/>
          </a:p>
        </p:txBody>
      </p:sp>
    </p:spTree>
    <p:extLst>
      <p:ext uri="{BB962C8B-B14F-4D97-AF65-F5344CB8AC3E}">
        <p14:creationId xmlns:p14="http://schemas.microsoft.com/office/powerpoint/2010/main" val="563428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0">
      <a:dk1>
        <a:sysClr val="windowText" lastClr="000000"/>
      </a:dk1>
      <a:lt1>
        <a:sysClr val="window" lastClr="FFFFFF"/>
      </a:lt1>
      <a:dk2>
        <a:srgbClr val="00292E"/>
      </a:dk2>
      <a:lt2>
        <a:srgbClr val="64B2C1"/>
      </a:lt2>
      <a:accent1>
        <a:srgbClr val="F0CDA1"/>
      </a:accent1>
      <a:accent2>
        <a:srgbClr val="107082"/>
      </a:accent2>
      <a:accent3>
        <a:srgbClr val="054854"/>
      </a:accent3>
      <a:accent4>
        <a:srgbClr val="00AEEF"/>
      </a:accent4>
      <a:accent5>
        <a:srgbClr val="F99927"/>
      </a:accent5>
      <a:accent6>
        <a:srgbClr val="EC7216"/>
      </a:accent6>
      <a:hlink>
        <a:srgbClr val="000000"/>
      </a:hlink>
      <a:folHlink>
        <a:srgbClr val="000000"/>
      </a:folHlink>
    </a:clrScheme>
    <a:fontScheme name="Custom 25">
      <a:majorFont>
        <a:latin typeface="Gill Sans MT"/>
        <a:ea typeface=""/>
        <a:cs typeface=""/>
      </a:majorFont>
      <a:minorFont>
        <a:latin typeface="Arial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23188392_Professional services pitch deck_SL_V1.potx" id="{A16A60D7-542B-43C6-BB27-7BA8168B4019}" vid="{8C6CFC53-4DED-4518-8264-5814B6A371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71946EF-A3EA-4ECB-8D9A-56C36FFF4075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72DAF9E5-DED4-4A50-A81B-4CC218A03F2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FDD087A-3273-4D74-8700-4C8E2BE507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Professional services pitch deck</Template>
  <TotalTime>4570</TotalTime>
  <Words>1007</Words>
  <Application>Microsoft Office PowerPoint</Application>
  <PresentationFormat>Widescreen</PresentationFormat>
  <Paragraphs>159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Arial </vt:lpstr>
      <vt:lpstr>Calibri</vt:lpstr>
      <vt:lpstr>Gill Sans MT</vt:lpstr>
      <vt:lpstr>Verdana</vt:lpstr>
      <vt:lpstr>Office Theme</vt:lpstr>
      <vt:lpstr>ML-Driven Bank Customer Churn Analysis</vt:lpstr>
      <vt:lpstr>Goal</vt:lpstr>
      <vt:lpstr>Introduction</vt:lpstr>
      <vt:lpstr>DataSet</vt:lpstr>
      <vt:lpstr>Visualizations</vt:lpstr>
      <vt:lpstr>Visualizations</vt:lpstr>
      <vt:lpstr>Visualizations</vt:lpstr>
      <vt:lpstr>Visualizations</vt:lpstr>
      <vt:lpstr>Visualizations</vt:lpstr>
      <vt:lpstr>Visualizations</vt:lpstr>
      <vt:lpstr>Visualizations</vt:lpstr>
      <vt:lpstr>Exploratory Data Analysis (EDA)</vt:lpstr>
      <vt:lpstr>Exploratory Data Analysis (EDA)</vt:lpstr>
      <vt:lpstr>Exploratory Data Analysis (EDA) &amp; PreProcessing</vt:lpstr>
      <vt:lpstr>Model Selection</vt:lpstr>
      <vt:lpstr>Model Evaluation</vt:lpstr>
      <vt:lpstr>Model Evaluation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Latha Reddy</dc:creator>
  <cp:keywords>Bank Customer Churn</cp:keywords>
  <cp:lastModifiedBy>Karunakar Reddy</cp:lastModifiedBy>
  <cp:revision>13</cp:revision>
  <dcterms:created xsi:type="dcterms:W3CDTF">2025-04-10T11:11:03Z</dcterms:created>
  <dcterms:modified xsi:type="dcterms:W3CDTF">2025-05-10T14:58:34Z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